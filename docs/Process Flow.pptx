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16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6D86-2FF4-A87E-C477-0E07B7086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42865-7588-C82C-363C-64E68ECDC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EC39-44D6-F6EE-5841-91353755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84145-6F4E-6A63-846A-86415BAC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FF3B-E118-D5BC-D63C-32B28288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90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D145-3403-5C6C-4F07-8FE76921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F04C-BD56-E528-C19D-A88BD221B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6F57D-2289-D1D4-7C1C-BC9FA988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64B40-61E3-A71A-F543-38EFC875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02F9-5C48-50F6-8967-B7E09969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2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CBF7-A486-85A5-B132-A5BC803E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64EBA-848B-FCB2-02BF-103B213B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54615-4DB8-331E-95AC-CD771526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0BD39-5C38-8065-35D5-F984B9A9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3502B-98A8-AF87-6457-6E563E85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29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4AAF-CB47-F0F4-16B9-00CDF2D4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79F2F-80FE-45B4-D06C-EA0189BF1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3EDF2-E948-3B6F-0D1D-90182C370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E4B4E-95B4-2169-2A6E-7D454222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2C952-3304-F4DE-052D-6E0E6EA2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92951-0FCF-4FA2-95DA-6C9D1259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44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AFC8-8C14-D21D-3050-63EEA139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844E-BD82-F77B-E94C-636DEE92F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CBFEC-9996-E84A-F7AF-E1CA2969B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D7C7A-2183-DD6D-DB8A-D8D641DDD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ADA87-2D21-1C49-A723-88DF70804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08F1A-5E95-1153-2426-8677CF9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EA5326-0C41-B2F5-E533-D5A5637D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BFD6B-EB2F-A422-9775-962527B1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35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1443-3EB2-8C29-829C-E14CAD7C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B97A3-754D-A91D-26E3-A2B4EDEC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51AD5-1B35-579F-6575-C883EF83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B94D9-0601-3960-A0D3-64CFD216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50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D62EA-A5A3-2C3E-ABF8-BB7EA618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E7594-BC90-0E9C-EB95-9ECBD9D8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F7C7B-6DF5-EEA3-6915-D4C8C3B6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37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A7B1-B7AD-D881-1606-9132F4EAA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8CCD-BB6A-B47C-9C7D-7873D546A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D0E36-BC7F-3238-AA4C-0EBF47E35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C729B-2832-1760-5C4C-58515934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A940-DC31-8237-31B6-9EB8659A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86D3F-E4C2-FDC3-0226-F8F77554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903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1DA6-D40F-BF9A-7CDB-387C2728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301FE7-6AC4-EEFB-198A-D87880C01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30B8B-6BB4-1B2F-9619-588DABC66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1A4ED-BD5D-A5A2-1FE4-ABE09AC63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40A49-8F70-ABEA-0473-2270AD95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9A0A0-C892-260A-CDC5-C7831923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1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83C0C-20FE-6A72-ED3A-6BC0792F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FDBC8-8F33-7849-A51D-DA9F7742E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74777-4EF9-AE37-FEF0-C8354E824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14C84-1DC7-255E-AFE9-28F7DFD6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5B17-3633-8164-440D-FC837DED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10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77693-F917-5F94-CF7C-7B02B9DBE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2CF3E-E1FB-8969-3AAF-E392801E0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80A8A-4DC5-86C9-8241-C99BB668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68BDC-52BD-AB72-1371-D15A4462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44A4D-D4DD-643F-9B0F-68552235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261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EB411-8B1C-4D40-EEF1-70D1E39D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BC94A-AC93-75BE-C893-649867240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44232-51C6-B4D4-E93D-2659371EC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A9FD8-A419-46DF-9447-50362FD3C02A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ACDCD-9DEC-667B-C6DC-DEE507BCB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07F9-F0FF-3D7E-3687-4765C362A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004BB-0CCA-4D4D-89B1-D23A57704F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86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CD8C-5838-A81E-6F94-D9BE6CB8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C4864-19AB-6451-DA75-21432AAD0E98}"/>
              </a:ext>
            </a:extLst>
          </p:cNvPr>
          <p:cNvSpPr txBox="1"/>
          <p:nvPr/>
        </p:nvSpPr>
        <p:spPr>
          <a:xfrm>
            <a:off x="2591686" y="15026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 PROCESS FLOW WITH IN-PROCESS PARAMETERS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954E7-3E8E-30BB-649D-9A7CADDB7E45}"/>
              </a:ext>
            </a:extLst>
          </p:cNvPr>
          <p:cNvSpPr txBox="1"/>
          <p:nvPr/>
        </p:nvSpPr>
        <p:spPr>
          <a:xfrm>
            <a:off x="211485" y="150260"/>
            <a:ext cx="11531336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1. Flask Stage (Seed Culture Initiation)</a:t>
            </a:r>
          </a:p>
          <a:p>
            <a:pPr>
              <a:buNone/>
            </a:pPr>
            <a:r>
              <a:rPr lang="en-IN" sz="800" b="1" dirty="0"/>
              <a:t>Flask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Seed Qualification (Flask Stage)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PAR</a:t>
            </a:r>
            <a:r>
              <a:rPr lang="en-IN" sz="800" dirty="0"/>
              <a:t> (light intensity setting)</a:t>
            </a:r>
          </a:p>
          <a:p>
            <a:pPr>
              <a:buFont typeface="+mj-lt"/>
              <a:buAutoNum type="arabicPeriod"/>
            </a:pPr>
            <a:r>
              <a:rPr lang="en-IN" sz="800" b="1" dirty="0"/>
              <a:t>pH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Microscopy Observation</a:t>
            </a:r>
            <a:r>
              <a:rPr lang="en-IN" sz="800" dirty="0"/>
              <a:t> (cell morphology, contamination)</a:t>
            </a:r>
          </a:p>
          <a:p>
            <a:pPr>
              <a:buFont typeface="+mj-lt"/>
              <a:buAutoNum type="arabicPeriod"/>
            </a:pPr>
            <a:r>
              <a:rPr lang="en-IN" sz="800" b="1" dirty="0"/>
              <a:t>Cell Count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OD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Size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Automation</a:t>
            </a:r>
            <a:r>
              <a:rPr lang="en-IN" sz="800" dirty="0"/>
              <a:t> (timers, light control, aeration if applicable)</a:t>
            </a:r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Decision:</a:t>
            </a:r>
            <a:br>
              <a:rPr lang="en-IN" sz="800" dirty="0"/>
            </a:br>
            <a:r>
              <a:rPr lang="en-IN" sz="800" dirty="0"/>
              <a:t>✔ QC Pass → Proceed to 25 L</a:t>
            </a:r>
            <a:br>
              <a:rPr lang="en-IN" sz="800" dirty="0"/>
            </a:br>
            <a:r>
              <a:rPr lang="en-IN" sz="800" dirty="0"/>
              <a:t>✖ QC Fail → Hold / Terminate / Restart batch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2. PBR 25 L – Seed Reactor</a:t>
            </a:r>
          </a:p>
          <a:p>
            <a:pPr>
              <a:buNone/>
            </a:pPr>
            <a:r>
              <a:rPr lang="en-IN" sz="800" b="1" dirty="0"/>
              <a:t>PBR 25 L (Seed Reactor)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Seed Acceptance (25 L)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PAR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pH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Microscopy Observation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Count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OD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Size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Automation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Decision:</a:t>
            </a:r>
            <a:br>
              <a:rPr lang="en-IN" sz="800" dirty="0"/>
            </a:br>
            <a:r>
              <a:rPr lang="en-IN" sz="800" dirty="0"/>
              <a:t>✔ QC Pass → Scale-up to 275 L</a:t>
            </a:r>
            <a:br>
              <a:rPr lang="en-IN" sz="800" dirty="0"/>
            </a:br>
            <a:r>
              <a:rPr lang="en-IN" sz="800" dirty="0"/>
              <a:t>✖ QC Fail → Hold / Corrective Action / Harvest (if required)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3. PBR 275 L – Intermediate Scale</a:t>
            </a:r>
          </a:p>
          <a:p>
            <a:pPr>
              <a:buNone/>
            </a:pPr>
            <a:r>
              <a:rPr lang="en-IN" sz="800" b="1" dirty="0"/>
              <a:t>PBR 275 L (Intermediate Scale)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Contamination &amp; Growth Check (275 L)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PAR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pH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Microscopy Observation</a:t>
            </a:r>
            <a:r>
              <a:rPr lang="en-IN" sz="800" dirty="0"/>
              <a:t> </a:t>
            </a:r>
            <a:r>
              <a:rPr lang="en-IN" sz="800" i="1" dirty="0"/>
              <a:t>(critical contamination checkpoint)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Count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OD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Size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Automation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Assay</a:t>
            </a:r>
            <a:r>
              <a:rPr lang="en-IN" sz="800" dirty="0"/>
              <a:t> </a:t>
            </a:r>
            <a:r>
              <a:rPr lang="en-IN" sz="800" i="1" dirty="0"/>
              <a:t>(if entering stress / red phase)</a:t>
            </a:r>
            <a:endParaRPr lang="en-IN" sz="800" dirty="0"/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DECISION GATE – 1</a:t>
            </a:r>
          </a:p>
          <a:p>
            <a:pPr rtl="0">
              <a:buNone/>
            </a:pPr>
            <a:r>
              <a:rPr lang="en-IN" sz="800" dirty="0">
                <a:latin typeface="Courier New" panose="02070309020205020404" pitchFamily="49" charset="0"/>
              </a:rPr>
              <a:t>Contamination Detected?</a:t>
            </a:r>
          </a:p>
          <a:p>
            <a:pPr rtl="0">
              <a:buNone/>
            </a:pPr>
            <a:r>
              <a:rPr lang="en-IN" sz="800" dirty="0">
                <a:latin typeface="Courier New" panose="02070309020205020404" pitchFamily="49" charset="0"/>
              </a:rPr>
              <a:t>   ├─ YES → Reddening → Harvest</a:t>
            </a:r>
          </a:p>
          <a:p>
            <a:pPr rtl="0">
              <a:buNone/>
            </a:pPr>
            <a:r>
              <a:rPr lang="en-IN" sz="800" dirty="0">
                <a:latin typeface="Courier New" panose="02070309020205020404" pitchFamily="49" charset="0"/>
              </a:rPr>
              <a:t>   └─ NO  → Proceed to 925 L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9313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63D0-757F-4DA2-2E93-54B7EEBA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C00769-57C9-0DAC-F545-465D70CEDD97}"/>
              </a:ext>
            </a:extLst>
          </p:cNvPr>
          <p:cNvSpPr txBox="1"/>
          <p:nvPr/>
        </p:nvSpPr>
        <p:spPr>
          <a:xfrm>
            <a:off x="2591686" y="15026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 PROCESS FLOW WITH IN-PROCESS PARAMETERS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6A2BA-DD33-3C1A-1DA3-ADED0815A22C}"/>
              </a:ext>
            </a:extLst>
          </p:cNvPr>
          <p:cNvSpPr txBox="1"/>
          <p:nvPr/>
        </p:nvSpPr>
        <p:spPr>
          <a:xfrm>
            <a:off x="211484" y="150260"/>
            <a:ext cx="1153133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800" dirty="0"/>
          </a:p>
          <a:p>
            <a:pPr>
              <a:buNone/>
            </a:pPr>
            <a:r>
              <a:rPr lang="en-IN" sz="800" b="1" dirty="0"/>
              <a:t>4. PBR 925 L – Large Seed Reactor</a:t>
            </a:r>
          </a:p>
          <a:p>
            <a:pPr>
              <a:buNone/>
            </a:pPr>
            <a:r>
              <a:rPr lang="en-IN" sz="800" b="1" dirty="0"/>
              <a:t>PBR 925 L (Seed Reactor)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Seed Release for Production (925 L)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PAR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pH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Microscopy Observation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Count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OD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Size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Automation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DECISION GATE – 2</a:t>
            </a:r>
          </a:p>
          <a:p>
            <a:r>
              <a:rPr lang="en-IN" sz="800" dirty="0">
                <a:latin typeface="Courier New" panose="02070309020205020404" pitchFamily="49" charset="0"/>
              </a:rPr>
              <a:t>Contamination Detected?</a:t>
            </a:r>
          </a:p>
          <a:p>
            <a:r>
              <a:rPr lang="en-IN" sz="800" dirty="0">
                <a:latin typeface="Courier New" panose="02070309020205020404" pitchFamily="49" charset="0"/>
              </a:rPr>
              <a:t>   ├─ YES → Reddening → Harvest</a:t>
            </a:r>
          </a:p>
          <a:p>
            <a:r>
              <a:rPr lang="en-IN" sz="800" dirty="0">
                <a:latin typeface="Courier New" panose="02070309020205020404" pitchFamily="49" charset="0"/>
              </a:rPr>
              <a:t>   └─ NO  → Proceed to 6600 L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5. PBR 6600 L – Production Reactor</a:t>
            </a:r>
          </a:p>
          <a:p>
            <a:pPr>
              <a:buNone/>
            </a:pPr>
            <a:r>
              <a:rPr lang="en-IN" sz="800" b="1" dirty="0"/>
              <a:t>PBR 6600 L (Production – Green Phase → Red Phase)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Production Monitoring (6600 L)</a:t>
            </a:r>
          </a:p>
          <a:p>
            <a:pPr>
              <a:buNone/>
            </a:pPr>
            <a:r>
              <a:rPr lang="en-IN" sz="800" b="1" dirty="0"/>
              <a:t>Parameters Checked (Green &amp; Red Phase):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PAR</a:t>
            </a:r>
            <a:r>
              <a:rPr lang="en-IN" sz="800" dirty="0"/>
              <a:t> </a:t>
            </a:r>
            <a:r>
              <a:rPr lang="en-IN" sz="800" i="1" dirty="0"/>
              <a:t>(phase-specific)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pH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Microscopy Observation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Count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OD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Cell Size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Automation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Font typeface="+mj-lt"/>
              <a:buAutoNum type="arabicPeriod"/>
            </a:pPr>
            <a:r>
              <a:rPr lang="en-IN" sz="800" b="1" dirty="0"/>
              <a:t>Assay</a:t>
            </a:r>
            <a:r>
              <a:rPr lang="en-IN" sz="800" dirty="0"/>
              <a:t> </a:t>
            </a:r>
            <a:r>
              <a:rPr lang="en-IN" sz="800" i="1" dirty="0"/>
              <a:t>(critical for harvest decision)</a:t>
            </a:r>
            <a:endParaRPr lang="en-IN" sz="800" dirty="0"/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Decision:</a:t>
            </a:r>
            <a:br>
              <a:rPr lang="en-IN" sz="800" dirty="0"/>
            </a:br>
            <a:r>
              <a:rPr lang="en-IN" sz="800" dirty="0"/>
              <a:t>✔ Target DW &amp; Assay achieved → Harvest</a:t>
            </a:r>
            <a:br>
              <a:rPr lang="en-IN" sz="800" dirty="0"/>
            </a:br>
            <a:r>
              <a:rPr lang="en-IN" sz="800" dirty="0"/>
              <a:t>✖ Not achieved → Continue cultivation / adjust conditions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6. Harvesting</a:t>
            </a:r>
          </a:p>
          <a:p>
            <a:pPr>
              <a:buNone/>
            </a:pPr>
            <a:r>
              <a:rPr lang="en-IN" sz="800" b="1" dirty="0"/>
              <a:t>Harvesting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Pre-Harvest &amp; Post-Harvest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Assay</a:t>
            </a:r>
            <a:endParaRPr lang="en-IN" sz="800" dirty="0"/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16494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96C2-8F74-EB1F-0E6E-ED0FBB96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52064-61CC-B0B0-CCFD-4C12C16ABFE4}"/>
              </a:ext>
            </a:extLst>
          </p:cNvPr>
          <p:cNvSpPr txBox="1"/>
          <p:nvPr/>
        </p:nvSpPr>
        <p:spPr>
          <a:xfrm>
            <a:off x="2591686" y="15026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OVERALL PROCESS FLOW WITH IN-PROCESS PARAMETERS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3633B-B951-9E39-24B4-68F5F120353B}"/>
              </a:ext>
            </a:extLst>
          </p:cNvPr>
          <p:cNvSpPr txBox="1"/>
          <p:nvPr/>
        </p:nvSpPr>
        <p:spPr>
          <a:xfrm>
            <a:off x="548369" y="839830"/>
            <a:ext cx="1153133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800" b="1" dirty="0"/>
              <a:t>7. Drying</a:t>
            </a:r>
          </a:p>
          <a:p>
            <a:pPr>
              <a:buNone/>
            </a:pPr>
            <a:r>
              <a:rPr lang="en-IN" sz="800" b="1" dirty="0"/>
              <a:t>Drying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Dried Biomass Release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Dry Weight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Assay</a:t>
            </a:r>
            <a:endParaRPr lang="en-IN" sz="800" dirty="0"/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8. Packing</a:t>
            </a:r>
          </a:p>
          <a:p>
            <a:pPr>
              <a:buNone/>
            </a:pPr>
            <a:r>
              <a:rPr lang="en-IN" sz="800" b="1" dirty="0"/>
              <a:t>Packing (Bulk Biomass)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Packing Release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" dirty="0"/>
              <a:t>Label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" dirty="0"/>
              <a:t>Batch integrity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800" dirty="0"/>
              <a:t>COA linkage</a:t>
            </a:r>
          </a:p>
          <a:p>
            <a:pPr>
              <a:buNone/>
            </a:pPr>
            <a:br>
              <a:rPr lang="en-IN" sz="800" dirty="0"/>
            </a:br>
            <a:endParaRPr lang="en-IN" sz="800" dirty="0"/>
          </a:p>
          <a:p>
            <a:pPr>
              <a:buNone/>
            </a:pPr>
            <a:r>
              <a:rPr lang="en-IN" sz="800" b="1" dirty="0"/>
              <a:t>9. External Extraction &amp; Supply Chain</a:t>
            </a:r>
          </a:p>
          <a:p>
            <a:pPr>
              <a:buNone/>
            </a:pPr>
            <a:r>
              <a:rPr lang="en-IN" sz="800" b="1" dirty="0"/>
              <a:t>Dispatch for External Extraction</a:t>
            </a:r>
            <a:br>
              <a:rPr lang="en-IN" sz="800" dirty="0"/>
            </a:br>
            <a:r>
              <a:rPr lang="en-IN" sz="800" dirty="0"/>
              <a:t>↓</a:t>
            </a:r>
            <a:br>
              <a:rPr lang="en-IN" sz="800" dirty="0"/>
            </a:br>
            <a:r>
              <a:rPr lang="en-IN" sz="800" b="1" dirty="0"/>
              <a:t>Receipt of Extracted Material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QC – Incoming Material</a:t>
            </a:r>
          </a:p>
          <a:p>
            <a:pPr>
              <a:buNone/>
            </a:pPr>
            <a:r>
              <a:rPr lang="en-IN" sz="800" b="1" dirty="0"/>
              <a:t>Parameters Checked: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Assay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b="1" dirty="0"/>
              <a:t>Physical inspection</a:t>
            </a:r>
            <a:endParaRPr lang="en-IN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800" dirty="0"/>
              <a:t>COA verification</a:t>
            </a:r>
          </a:p>
          <a:p>
            <a:pPr>
              <a:buNone/>
            </a:pP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Re-Packing</a:t>
            </a:r>
            <a:br>
              <a:rPr lang="en-IN" sz="800" dirty="0"/>
            </a:br>
            <a:r>
              <a:rPr lang="en-IN" sz="800" dirty="0"/>
              <a:t>↓</a:t>
            </a:r>
          </a:p>
          <a:p>
            <a:pPr>
              <a:buNone/>
            </a:pPr>
            <a:r>
              <a:rPr lang="en-IN" sz="800" b="1" dirty="0"/>
              <a:t>Final Dispatch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59979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491</Words>
  <Application>Microsoft Office PowerPoint</Application>
  <PresentationFormat>Widescreen</PresentationFormat>
  <Paragraphs>117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Abraham</dc:creator>
  <cp:lastModifiedBy>Roy Abraham</cp:lastModifiedBy>
  <cp:revision>3</cp:revision>
  <dcterms:created xsi:type="dcterms:W3CDTF">2026-01-30T09:45:11Z</dcterms:created>
  <dcterms:modified xsi:type="dcterms:W3CDTF">2026-01-30T10:08:55Z</dcterms:modified>
</cp:coreProperties>
</file>