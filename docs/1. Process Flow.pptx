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  <p:sldId id="262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6D86-2FF4-A87E-C477-0E07B7086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42865-7588-C82C-363C-64E68ECDC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EC39-44D6-F6EE-5841-91353755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84145-6F4E-6A63-846A-86415BAC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FF3B-E118-D5BC-D63C-32B28288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90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D145-3403-5C6C-4F07-8FE76921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5F04C-BD56-E528-C19D-A88BD221B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6F57D-2289-D1D4-7C1C-BC9FA9886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64B40-61E3-A71A-F543-38EFC875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F02F9-5C48-50F6-8967-B7E09969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2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CBF7-A486-85A5-B132-A5BC803EF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64EBA-848B-FCB2-02BF-103B213B2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54615-4DB8-331E-95AC-CD771526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0BD39-5C38-8065-35D5-F984B9A9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3502B-98A8-AF87-6457-6E563E85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29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4AAF-CB47-F0F4-16B9-00CDF2D4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79F2F-80FE-45B4-D06C-EA0189BF1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3EDF2-E948-3B6F-0D1D-90182C370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E4B4E-95B4-2169-2A6E-7D454222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2C952-3304-F4DE-052D-6E0E6EA2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92951-0FCF-4FA2-95DA-6C9D1259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44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AFC8-8C14-D21D-3050-63EEA139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5844E-BD82-F77B-E94C-636DEE92F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CBFEC-9996-E84A-F7AF-E1CA2969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D7C7A-2183-DD6D-DB8A-D8D641DDD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ADA87-2D21-1C49-A723-88DF70804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08F1A-5E95-1153-2426-8677CF9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A5326-0C41-B2F5-E533-D5A5637D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BFD6B-EB2F-A422-9775-962527B1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35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1443-3EB2-8C29-829C-E14CAD7C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B97A3-754D-A91D-26E3-A2B4EDEC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51AD5-1B35-579F-6575-C883EF83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B94D9-0601-3960-A0D3-64CFD216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0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D62EA-A5A3-2C3E-ABF8-BB7EA618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E7594-BC90-0E9C-EB95-9ECBD9D8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F7C7B-6DF5-EEA3-6915-D4C8C3B6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37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A7B1-B7AD-D881-1606-9132F4EA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8CCD-BB6A-B47C-9C7D-7873D546A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D0E36-BC7F-3238-AA4C-0EBF47E35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C729B-2832-1760-5C4C-58515934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DA940-DC31-8237-31B6-9EB8659A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86D3F-E4C2-FDC3-0226-F8F77554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903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1DA6-D40F-BF9A-7CDB-387C2728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01FE7-6AC4-EEFB-198A-D87880C01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30B8B-6BB4-1B2F-9619-588DABC66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1A4ED-BD5D-A5A2-1FE4-ABE09AC6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40A49-8F70-ABEA-0473-2270AD95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9A0A0-C892-260A-CDC5-C7831923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61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3C0C-20FE-6A72-ED3A-6BC0792F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FDBC8-8F33-7849-A51D-DA9F7742E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74777-4EF9-AE37-FEF0-C8354E824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4C84-1DC7-255E-AFE9-28F7DFD6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5B17-3633-8164-440D-FC837DED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10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77693-F917-5F94-CF7C-7B02B9DBE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2CF3E-E1FB-8969-3AAF-E392801E0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0A8A-4DC5-86C9-8241-C99BB668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68BDC-52BD-AB72-1371-D15A4462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44A4D-D4DD-643F-9B0F-68552235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26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EB411-8B1C-4D40-EEF1-70D1E39D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C94A-AC93-75BE-C893-649867240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44232-51C6-B4D4-E93D-2659371EC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A9FD8-A419-46DF-9447-50362FD3C02A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ACDCD-9DEC-667B-C6DC-DEE507BCB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07F9-F0FF-3D7E-3687-4765C362A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64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CD8C-5838-A81E-6F94-D9BE6CB8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C4864-19AB-6451-DA75-21432AAD0E98}"/>
              </a:ext>
            </a:extLst>
          </p:cNvPr>
          <p:cNvSpPr txBox="1"/>
          <p:nvPr/>
        </p:nvSpPr>
        <p:spPr>
          <a:xfrm>
            <a:off x="2591686" y="150260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END-TO-END PROCESS FLOW –BIOMASS PRODUCTION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954E7-3E8E-30BB-649D-9A7CADDB7E45}"/>
              </a:ext>
            </a:extLst>
          </p:cNvPr>
          <p:cNvSpPr txBox="1"/>
          <p:nvPr/>
        </p:nvSpPr>
        <p:spPr>
          <a:xfrm>
            <a:off x="330332" y="1660083"/>
            <a:ext cx="1153133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</a:p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QC – Seed Qualification (Flask Stage)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Parameters Checked: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PAR (light intensity)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pH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Microscopy observation (morphology, contamination)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count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OD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size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Automation (timers, light, aeration if applicable)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✔ QC Pass → Proceed to PBR 25 L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✖ QC Fail → Hold / Terminate / Restart batch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15220-CE6B-50BF-D362-18268788F42B}"/>
              </a:ext>
            </a:extLst>
          </p:cNvPr>
          <p:cNvSpPr txBox="1"/>
          <p:nvPr/>
        </p:nvSpPr>
        <p:spPr>
          <a:xfrm>
            <a:off x="330332" y="905171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Flask Stage – Seed Culture Initiation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3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C9D9-1006-0EB5-54BA-67815AC9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EBE64D-0ADD-32EF-5400-6456FFCE66AA}"/>
              </a:ext>
            </a:extLst>
          </p:cNvPr>
          <p:cNvSpPr txBox="1"/>
          <p:nvPr/>
        </p:nvSpPr>
        <p:spPr>
          <a:xfrm>
            <a:off x="243382" y="830744"/>
            <a:ext cx="1153133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PBR 25 L (Seed Reactor)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QC – Seed Acceptance (25 L)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Parameters Checked: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PAR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pH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Microscopy observation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count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OD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size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Automation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Dry weight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✔ QC Pass → Scale-up to PBR 275 L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✖ QC Fail → Hold / Corrective action / Harvest (if required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BDE363-8EBF-EC4D-9C72-94FE83C4C465}"/>
              </a:ext>
            </a:extLst>
          </p:cNvPr>
          <p:cNvSpPr txBox="1"/>
          <p:nvPr/>
        </p:nvSpPr>
        <p:spPr>
          <a:xfrm>
            <a:off x="243382" y="724419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PBR 25 L – Seed Reactor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C1679-78D0-7AE7-5AA9-3F65626660FF}"/>
              </a:ext>
            </a:extLst>
          </p:cNvPr>
          <p:cNvSpPr txBox="1"/>
          <p:nvPr/>
        </p:nvSpPr>
        <p:spPr>
          <a:xfrm>
            <a:off x="2591686" y="150260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END-TO-END PROCESS FLOW –BIOMASS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22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7353-A1E0-BE66-26F4-74B7D3F7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BC4543-784E-E033-08AA-4A01CCAE2A54}"/>
              </a:ext>
            </a:extLst>
          </p:cNvPr>
          <p:cNvSpPr txBox="1"/>
          <p:nvPr/>
        </p:nvSpPr>
        <p:spPr>
          <a:xfrm>
            <a:off x="243382" y="830744"/>
            <a:ext cx="1153133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PBR 275 L (Intermediate Scale)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QC – Contamination &amp; Growth Check (275 L)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Parameters Checked: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PAR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pH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Microscopy observation (CRITICAL checkpoint)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count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OD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size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Automation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Dry weight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Assay (if entering stress / red phase)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QC DECISION GATE – 1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Contamination detected?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├─ YES → Reddening → Harvest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└─ NO  → Proceed to PBR 925 L</a:t>
            </a:r>
          </a:p>
          <a:p>
            <a:pPr>
              <a:buNone/>
            </a:pP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2A518-D0D1-175A-D002-C1EE312795AD}"/>
              </a:ext>
            </a:extLst>
          </p:cNvPr>
          <p:cNvSpPr txBox="1"/>
          <p:nvPr/>
        </p:nvSpPr>
        <p:spPr>
          <a:xfrm>
            <a:off x="243382" y="64607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3. PBR 275 L – Intermediate Scale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029AF-2829-48AC-D00A-8EE1A05B17E3}"/>
              </a:ext>
            </a:extLst>
          </p:cNvPr>
          <p:cNvSpPr txBox="1"/>
          <p:nvPr/>
        </p:nvSpPr>
        <p:spPr>
          <a:xfrm>
            <a:off x="2591686" y="150260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END-TO-END PROCESS FLOW –BIOMASS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775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063D0-757F-4DA2-2E93-54B7EEBA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C6A2BA-DD33-3C1A-1DA3-ADED0815A22C}"/>
              </a:ext>
            </a:extLst>
          </p:cNvPr>
          <p:cNvSpPr txBox="1"/>
          <p:nvPr/>
        </p:nvSpPr>
        <p:spPr>
          <a:xfrm>
            <a:off x="330332" y="1287944"/>
            <a:ext cx="1153133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PBR 925 L (Seed Reactor)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QC – Seed Release for Production (925 L)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Parameters Checked: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PAR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pH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Microscopy observation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count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OD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Cell size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Automation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• Dry weight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QC DECISION GATE – 2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Contamination detected?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  ├─ YES → Reddening → Harvest</a:t>
            </a:r>
          </a:p>
          <a:p>
            <a:pPr>
              <a:buNone/>
            </a:pP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  └─ NO  → Proceed to PBR 6600 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263787-933B-65FD-54EB-88487D10C73C}"/>
              </a:ext>
            </a:extLst>
          </p:cNvPr>
          <p:cNvSpPr txBox="1"/>
          <p:nvPr/>
        </p:nvSpPr>
        <p:spPr>
          <a:xfrm>
            <a:off x="330332" y="63153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PBR 925 L – Large Seed Reactor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0B164-32B1-0459-CA65-5077407C3A7B}"/>
              </a:ext>
            </a:extLst>
          </p:cNvPr>
          <p:cNvSpPr txBox="1"/>
          <p:nvPr/>
        </p:nvSpPr>
        <p:spPr>
          <a:xfrm>
            <a:off x="2591686" y="150260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END-TO-END PROCESS FLOW –BIOMASS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94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F579-76F8-C361-163F-F9F41B09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B0082A-3A07-02B9-4366-053342A258F6}"/>
              </a:ext>
            </a:extLst>
          </p:cNvPr>
          <p:cNvSpPr txBox="1"/>
          <p:nvPr/>
        </p:nvSpPr>
        <p:spPr>
          <a:xfrm>
            <a:off x="449180" y="874081"/>
            <a:ext cx="11531336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1400" dirty="0"/>
            </a:br>
            <a:r>
              <a:rPr lang="en-IN" sz="1400" dirty="0"/>
              <a:t>PBR 6600 L (Production Reactor)</a:t>
            </a:r>
          </a:p>
          <a:p>
            <a:pPr>
              <a:buNone/>
            </a:pPr>
            <a:r>
              <a:rPr lang="en-IN" sz="1400" dirty="0"/>
              <a:t>   Green Phase → Red Phase</a:t>
            </a:r>
          </a:p>
          <a:p>
            <a:pPr>
              <a:buNone/>
            </a:pPr>
            <a:r>
              <a:rPr lang="en-IN" sz="1400" dirty="0"/>
              <a:t>  ↓</a:t>
            </a:r>
          </a:p>
          <a:p>
            <a:pPr>
              <a:buNone/>
            </a:pPr>
            <a:r>
              <a:rPr lang="en-IN" sz="1400" dirty="0"/>
              <a:t>QC – Production Monitoring (6600 L)</a:t>
            </a:r>
          </a:p>
          <a:p>
            <a:pPr>
              <a:buNone/>
            </a:pPr>
            <a:r>
              <a:rPr lang="en-IN" sz="1400" dirty="0"/>
              <a:t>   Parameters Checked:</a:t>
            </a:r>
          </a:p>
          <a:p>
            <a:pPr>
              <a:buNone/>
            </a:pPr>
            <a:r>
              <a:rPr lang="en-IN" sz="1400" dirty="0"/>
              <a:t>   • PAR (phase-specific)</a:t>
            </a:r>
          </a:p>
          <a:p>
            <a:pPr>
              <a:buNone/>
            </a:pPr>
            <a:r>
              <a:rPr lang="en-IN" sz="1400" dirty="0"/>
              <a:t>   • pH</a:t>
            </a:r>
          </a:p>
          <a:p>
            <a:pPr>
              <a:buNone/>
            </a:pPr>
            <a:r>
              <a:rPr lang="en-IN" sz="1400" dirty="0"/>
              <a:t>   • Microscopy observation</a:t>
            </a:r>
          </a:p>
          <a:p>
            <a:pPr>
              <a:buNone/>
            </a:pPr>
            <a:r>
              <a:rPr lang="en-IN" sz="1400" dirty="0"/>
              <a:t>   • Cell count</a:t>
            </a:r>
          </a:p>
          <a:p>
            <a:pPr>
              <a:buNone/>
            </a:pPr>
            <a:r>
              <a:rPr lang="en-IN" sz="1400" dirty="0"/>
              <a:t>   • OD</a:t>
            </a:r>
          </a:p>
          <a:p>
            <a:pPr>
              <a:buNone/>
            </a:pPr>
            <a:r>
              <a:rPr lang="en-IN" sz="1400" dirty="0"/>
              <a:t>   • Cell size</a:t>
            </a:r>
          </a:p>
          <a:p>
            <a:pPr>
              <a:buNone/>
            </a:pPr>
            <a:r>
              <a:rPr lang="en-IN" sz="1400" dirty="0"/>
              <a:t>   • Automation</a:t>
            </a:r>
          </a:p>
          <a:p>
            <a:pPr>
              <a:buNone/>
            </a:pPr>
            <a:r>
              <a:rPr lang="en-IN" sz="1400" dirty="0"/>
              <a:t>   • Dry weight</a:t>
            </a:r>
          </a:p>
          <a:p>
            <a:pPr>
              <a:buNone/>
            </a:pPr>
            <a:r>
              <a:rPr lang="en-IN" sz="1400" dirty="0"/>
              <a:t>   • Assay (CRITICAL for harvest decision)</a:t>
            </a:r>
          </a:p>
          <a:p>
            <a:pPr>
              <a:buNone/>
            </a:pPr>
            <a:r>
              <a:rPr lang="en-IN" sz="1400" dirty="0"/>
              <a:t>  ↓</a:t>
            </a:r>
          </a:p>
          <a:p>
            <a:pPr>
              <a:buNone/>
            </a:pPr>
            <a:r>
              <a:rPr lang="en-IN" sz="1400" dirty="0"/>
              <a:t>Decision:</a:t>
            </a:r>
          </a:p>
          <a:p>
            <a:pPr>
              <a:buNone/>
            </a:pPr>
            <a:r>
              <a:rPr lang="en-IN" sz="1400" dirty="0"/>
              <a:t>   ✔ Target dry weight &amp; assay achieved → Harvest</a:t>
            </a:r>
          </a:p>
          <a:p>
            <a:pPr>
              <a:buNone/>
            </a:pPr>
            <a:r>
              <a:rPr lang="en-IN" sz="1400" dirty="0"/>
              <a:t>   ✖ Not achieved → Continue cultivation / adjust conditions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  <a:p>
            <a:pPr>
              <a:buNone/>
            </a:pPr>
            <a:r>
              <a:rPr lang="en-US" sz="1400" dirty="0"/>
              <a:t>Harvesting</a:t>
            </a:r>
          </a:p>
          <a:p>
            <a:pPr>
              <a:buNone/>
            </a:pPr>
            <a:r>
              <a:rPr lang="en-US" sz="1400" dirty="0"/>
              <a:t>  ↓</a:t>
            </a:r>
          </a:p>
          <a:p>
            <a:pPr>
              <a:buNone/>
            </a:pPr>
            <a:r>
              <a:rPr lang="en-US" sz="1400" dirty="0"/>
              <a:t>QC – Pre-Harvest &amp; Post-Harvest</a:t>
            </a:r>
          </a:p>
          <a:p>
            <a:pPr>
              <a:buNone/>
            </a:pPr>
            <a:r>
              <a:rPr lang="en-US" sz="1400" dirty="0"/>
              <a:t>   Parameters Checked:</a:t>
            </a:r>
          </a:p>
          <a:p>
            <a:pPr>
              <a:buNone/>
            </a:pPr>
            <a:r>
              <a:rPr lang="en-US" sz="1400" dirty="0"/>
              <a:t>   • Dry weight</a:t>
            </a:r>
          </a:p>
          <a:p>
            <a:pPr>
              <a:buNone/>
            </a:pPr>
            <a:r>
              <a:rPr lang="en-US" sz="1400" dirty="0"/>
              <a:t>   • Assay</a:t>
            </a:r>
          </a:p>
          <a:p>
            <a:pPr>
              <a:buNone/>
            </a:pPr>
            <a:br>
              <a:rPr lang="en-IN" sz="1400" dirty="0"/>
            </a:b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C4F57B-F35F-7254-9A61-9C3C5673BA72}"/>
              </a:ext>
            </a:extLst>
          </p:cNvPr>
          <p:cNvSpPr txBox="1"/>
          <p:nvPr/>
        </p:nvSpPr>
        <p:spPr>
          <a:xfrm>
            <a:off x="211484" y="51959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PBR 6600 L – Production Reactor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3F959-4E73-F33F-DFE5-E3A6891CE67F}"/>
              </a:ext>
            </a:extLst>
          </p:cNvPr>
          <p:cNvSpPr txBox="1"/>
          <p:nvPr/>
        </p:nvSpPr>
        <p:spPr>
          <a:xfrm>
            <a:off x="211484" y="497463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6. Harvesting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F833D-83B5-1565-B5D8-91B57B0160D4}"/>
              </a:ext>
            </a:extLst>
          </p:cNvPr>
          <p:cNvSpPr txBox="1"/>
          <p:nvPr/>
        </p:nvSpPr>
        <p:spPr>
          <a:xfrm>
            <a:off x="2591686" y="150260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END-TO-END PROCESS FLOW –BIOMASS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123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96C2-8F74-EB1F-0E6E-ED0FBB96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23633B-B951-9E39-24B4-68F5F120353B}"/>
              </a:ext>
            </a:extLst>
          </p:cNvPr>
          <p:cNvSpPr txBox="1"/>
          <p:nvPr/>
        </p:nvSpPr>
        <p:spPr>
          <a:xfrm>
            <a:off x="548369" y="839830"/>
            <a:ext cx="1153133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400" b="1" dirty="0"/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r>
              <a:rPr lang="en-US" sz="1400" dirty="0"/>
              <a:t>Drying</a:t>
            </a:r>
          </a:p>
          <a:p>
            <a:pPr>
              <a:buNone/>
            </a:pPr>
            <a:r>
              <a:rPr lang="en-US" sz="1400" dirty="0"/>
              <a:t>  ↓</a:t>
            </a:r>
          </a:p>
          <a:p>
            <a:pPr>
              <a:buNone/>
            </a:pPr>
            <a:r>
              <a:rPr lang="en-US" sz="1400" dirty="0"/>
              <a:t>QC – Dried Biomass Release</a:t>
            </a:r>
          </a:p>
          <a:p>
            <a:pPr>
              <a:buNone/>
            </a:pPr>
            <a:r>
              <a:rPr lang="en-US" sz="1400" dirty="0"/>
              <a:t>   Parameters Checked:</a:t>
            </a:r>
          </a:p>
          <a:p>
            <a:pPr>
              <a:buNone/>
            </a:pPr>
            <a:r>
              <a:rPr lang="en-US" sz="1400" dirty="0"/>
              <a:t>   • Dry weight</a:t>
            </a:r>
          </a:p>
          <a:p>
            <a:pPr>
              <a:buNone/>
            </a:pPr>
            <a:r>
              <a:rPr lang="en-US" sz="1400" dirty="0"/>
              <a:t>   • Assay</a:t>
            </a:r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br>
              <a:rPr lang="en-IN" sz="1400" dirty="0"/>
            </a:br>
            <a:br>
              <a:rPr lang="en-IN" sz="1400" dirty="0"/>
            </a:b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B0164-1F34-A755-1ECA-A4A916E27A31}"/>
              </a:ext>
            </a:extLst>
          </p:cNvPr>
          <p:cNvSpPr txBox="1"/>
          <p:nvPr/>
        </p:nvSpPr>
        <p:spPr>
          <a:xfrm>
            <a:off x="548369" y="85032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7. Drying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BB548-E1FE-ECA9-3E77-1F5978FCC65A}"/>
              </a:ext>
            </a:extLst>
          </p:cNvPr>
          <p:cNvSpPr txBox="1"/>
          <p:nvPr/>
        </p:nvSpPr>
        <p:spPr>
          <a:xfrm>
            <a:off x="548369" y="3168039"/>
            <a:ext cx="6097772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8. Packing (Bulk Biomass)</a:t>
            </a:r>
          </a:p>
          <a:p>
            <a:endParaRPr lang="en-US" sz="1400" dirty="0"/>
          </a:p>
          <a:p>
            <a:r>
              <a:rPr lang="en-US" sz="1400" dirty="0"/>
              <a:t>Packing</a:t>
            </a:r>
          </a:p>
          <a:p>
            <a:r>
              <a:rPr lang="en-US" sz="1400" dirty="0"/>
              <a:t>  ↓</a:t>
            </a:r>
          </a:p>
          <a:p>
            <a:r>
              <a:rPr lang="en-US" sz="1400" dirty="0"/>
              <a:t>QC – Packing Release</a:t>
            </a:r>
          </a:p>
          <a:p>
            <a:r>
              <a:rPr lang="en-US" sz="1400" dirty="0"/>
              <a:t>   • Label verification</a:t>
            </a:r>
          </a:p>
          <a:p>
            <a:r>
              <a:rPr lang="en-US" sz="1400" dirty="0"/>
              <a:t>   • Batch integrity</a:t>
            </a:r>
          </a:p>
          <a:p>
            <a:r>
              <a:rPr lang="en-US" sz="1400" dirty="0"/>
              <a:t>   • COA linkage</a:t>
            </a:r>
            <a:endParaRPr lang="en-IN" sz="1400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42D3A-C830-0DBD-EC37-DCA176CD8753}"/>
              </a:ext>
            </a:extLst>
          </p:cNvPr>
          <p:cNvSpPr txBox="1"/>
          <p:nvPr/>
        </p:nvSpPr>
        <p:spPr>
          <a:xfrm>
            <a:off x="2591686" y="150260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END-TO-END PROCESS FLOW –BIOMASS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79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9F64-CB1E-B94C-304E-D2A20166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22D6D9-092F-27DE-1E27-6B38664E6386}"/>
              </a:ext>
            </a:extLst>
          </p:cNvPr>
          <p:cNvSpPr txBox="1"/>
          <p:nvPr/>
        </p:nvSpPr>
        <p:spPr>
          <a:xfrm>
            <a:off x="548369" y="839830"/>
            <a:ext cx="115313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 for External Extraction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of Extracted Material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QC – Incoming Material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Parameters Checked: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Assay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Physical inspection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COA verification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Re-Packing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Dispatch</a:t>
            </a: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6E39E-9000-1252-AFE7-AED4F597D242}"/>
              </a:ext>
            </a:extLst>
          </p:cNvPr>
          <p:cNvSpPr txBox="1"/>
          <p:nvPr/>
        </p:nvSpPr>
        <p:spPr>
          <a:xfrm>
            <a:off x="369482" y="83983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9. External Extraction &amp; Supply Chain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0A253-6670-9758-AE93-6DFAC6FA15CA}"/>
              </a:ext>
            </a:extLst>
          </p:cNvPr>
          <p:cNvSpPr txBox="1"/>
          <p:nvPr/>
        </p:nvSpPr>
        <p:spPr>
          <a:xfrm>
            <a:off x="468788" y="476484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ONE-LINE ERP / AUDIT 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96568-3488-C85E-5DEF-686B7C128C01}"/>
              </a:ext>
            </a:extLst>
          </p:cNvPr>
          <p:cNvSpPr txBox="1"/>
          <p:nvPr/>
        </p:nvSpPr>
        <p:spPr>
          <a:xfrm>
            <a:off x="540395" y="5407384"/>
            <a:ext cx="111474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→ QC → 25L → QC → 275L → QC → 925L → QC → 6600L → QC → Harvest → Dry → Pack → Dispatch → Receive → Repack → Dispatch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04F99-2988-F7F0-9178-EF97DB728FEF}"/>
              </a:ext>
            </a:extLst>
          </p:cNvPr>
          <p:cNvSpPr txBox="1"/>
          <p:nvPr/>
        </p:nvSpPr>
        <p:spPr>
          <a:xfrm>
            <a:off x="2591686" y="150260"/>
            <a:ext cx="88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END-TO-END PROCESS FLOW –BIOMASS PRODUCTION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687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667</Words>
  <Application>Microsoft Office PowerPoint</Application>
  <PresentationFormat>Widescreen</PresentationFormat>
  <Paragraphs>151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Abraham</dc:creator>
  <cp:lastModifiedBy>Akhil Mohan</cp:lastModifiedBy>
  <cp:revision>8</cp:revision>
  <dcterms:created xsi:type="dcterms:W3CDTF">2026-01-30T09:45:11Z</dcterms:created>
  <dcterms:modified xsi:type="dcterms:W3CDTF">2026-02-02T10:00:04Z</dcterms:modified>
</cp:coreProperties>
</file>